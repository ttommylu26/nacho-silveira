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5547"/>
    <a:srgbClr val="A93226"/>
    <a:srgbClr val="E74C3C"/>
    <a:srgbClr val="2E4053"/>
    <a:srgbClr val="42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6B78-FDB9-4514-9FDA-6F9ABD285CB1}" type="datetimeFigureOut">
              <a:rPr lang="es-UY" smtClean="0"/>
              <a:t>19/10/2021</a:t>
            </a:fld>
            <a:endParaRPr lang="es-U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B4D55-727F-43BE-BE34-043713CE996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792665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6B78-FDB9-4514-9FDA-6F9ABD285CB1}" type="datetimeFigureOut">
              <a:rPr lang="es-UY" smtClean="0"/>
              <a:t>19/10/2021</a:t>
            </a:fld>
            <a:endParaRPr lang="es-U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B4D55-727F-43BE-BE34-043713CE996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76985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6B78-FDB9-4514-9FDA-6F9ABD285CB1}" type="datetimeFigureOut">
              <a:rPr lang="es-UY" smtClean="0"/>
              <a:t>19/10/2021</a:t>
            </a:fld>
            <a:endParaRPr lang="es-U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B4D55-727F-43BE-BE34-043713CE996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44602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6B78-FDB9-4514-9FDA-6F9ABD285CB1}" type="datetimeFigureOut">
              <a:rPr lang="es-UY" smtClean="0"/>
              <a:t>19/10/2021</a:t>
            </a:fld>
            <a:endParaRPr lang="es-U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B4D55-727F-43BE-BE34-043713CE996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779523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6B78-FDB9-4514-9FDA-6F9ABD285CB1}" type="datetimeFigureOut">
              <a:rPr lang="es-UY" smtClean="0"/>
              <a:t>19/10/2021</a:t>
            </a:fld>
            <a:endParaRPr lang="es-UY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B4D55-727F-43BE-BE34-043713CE996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354393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6B78-FDB9-4514-9FDA-6F9ABD285CB1}" type="datetimeFigureOut">
              <a:rPr lang="es-UY" smtClean="0"/>
              <a:t>19/10/2021</a:t>
            </a:fld>
            <a:endParaRPr lang="es-UY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B4D55-727F-43BE-BE34-043713CE996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634910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6B78-FDB9-4514-9FDA-6F9ABD285CB1}" type="datetimeFigureOut">
              <a:rPr lang="es-UY" smtClean="0"/>
              <a:t>19/10/2021</a:t>
            </a:fld>
            <a:endParaRPr lang="es-UY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B4D55-727F-43BE-BE34-043713CE996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254314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6B78-FDB9-4514-9FDA-6F9ABD285CB1}" type="datetimeFigureOut">
              <a:rPr lang="es-UY" smtClean="0"/>
              <a:t>19/10/2021</a:t>
            </a:fld>
            <a:endParaRPr lang="es-U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B4D55-727F-43BE-BE34-043713CE996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453171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Y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6B78-FDB9-4514-9FDA-6F9ABD285CB1}" type="datetimeFigureOut">
              <a:rPr lang="es-UY" smtClean="0"/>
              <a:t>19/10/2021</a:t>
            </a:fld>
            <a:endParaRPr lang="es-U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B4D55-727F-43BE-BE34-043713CE996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79361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6B78-FDB9-4514-9FDA-6F9ABD285CB1}" type="datetimeFigureOut">
              <a:rPr lang="es-UY" smtClean="0"/>
              <a:t>19/10/2021</a:t>
            </a:fld>
            <a:endParaRPr lang="es-U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B4D55-727F-43BE-BE34-043713CE996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96901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6B78-FDB9-4514-9FDA-6F9ABD285CB1}" type="datetimeFigureOut">
              <a:rPr lang="es-UY" smtClean="0"/>
              <a:t>19/10/2021</a:t>
            </a:fld>
            <a:endParaRPr lang="es-U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B4D55-727F-43BE-BE34-043713CE996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996922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16B78-FDB9-4514-9FDA-6F9ABD285CB1}" type="datetimeFigureOut">
              <a:rPr lang="es-UY" smtClean="0"/>
              <a:t>19/10/2021</a:t>
            </a:fld>
            <a:endParaRPr lang="es-U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B4D55-727F-43BE-BE34-043713CE996D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68644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2" name="AutoShape 12" descr="https://cdn-user-icons.flaticon.com/28577/28577540/1634582670069.svg?token=exp=1634583646~hmac=652d4b5ef5dd3899ee88d515ff6e0fb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UY"/>
          </a:p>
        </p:txBody>
      </p:sp>
      <p:pic>
        <p:nvPicPr>
          <p:cNvPr id="1042" name="Picture 18" descr="Univer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359" y="1815572"/>
            <a:ext cx="5186891" cy="5186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/>
          <p:cNvSpPr txBox="1"/>
          <p:nvPr/>
        </p:nvSpPr>
        <p:spPr>
          <a:xfrm>
            <a:off x="5249332" y="160338"/>
            <a:ext cx="67648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6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ORIGEN</a:t>
            </a:r>
          </a:p>
          <a:p>
            <a:pPr algn="r"/>
            <a:r>
              <a:rPr lang="es-ES" sz="6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DEL</a:t>
            </a:r>
          </a:p>
          <a:p>
            <a:pPr algn="r"/>
            <a:r>
              <a:rPr lang="es-ES" sz="6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UNIVERSO</a:t>
            </a:r>
            <a:endParaRPr lang="es-UY" sz="6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7933266" y="2771727"/>
            <a:ext cx="4080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 smtClean="0">
                <a:solidFill>
                  <a:schemeClr val="bg1"/>
                </a:solidFill>
                <a:latin typeface="+mj-lt"/>
                <a:ea typeface="Cambria" panose="02040503050406030204" pitchFamily="18" charset="0"/>
                <a:cs typeface="Arial" panose="020B0604020202020204" pitchFamily="34" charset="0"/>
              </a:rPr>
              <a:t>BRUNO LUZARDO, FELIPE PALADINO, IGNACIO SILVEIRA, FELIPE GIL</a:t>
            </a:r>
            <a:endParaRPr lang="es-UY" dirty="0">
              <a:solidFill>
                <a:schemeClr val="bg1"/>
              </a:solidFill>
              <a:latin typeface="+mj-lt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6697134" y="6518565"/>
            <a:ext cx="551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 smtClean="0">
                <a:solidFill>
                  <a:schemeClr val="bg1"/>
                </a:solidFill>
                <a:latin typeface="+mj-lt"/>
                <a:ea typeface="Cambria" panose="02040503050406030204" pitchFamily="18" charset="0"/>
                <a:cs typeface="Arial" panose="020B0604020202020204" pitchFamily="34" charset="0"/>
              </a:rPr>
              <a:t>REALIZADO POR </a:t>
            </a:r>
            <a:r>
              <a:rPr lang="es-ES" b="1" dirty="0" smtClean="0">
                <a:solidFill>
                  <a:schemeClr val="bg1"/>
                </a:solidFill>
                <a:latin typeface="+mj-lt"/>
                <a:ea typeface="Cambria" panose="02040503050406030204" pitchFamily="18" charset="0"/>
                <a:cs typeface="Arial" panose="020B0604020202020204" pitchFamily="34" charset="0"/>
              </a:rPr>
              <a:t>IGNACIO SILVEIRA</a:t>
            </a:r>
            <a:endParaRPr lang="es-UY" b="1" dirty="0">
              <a:solidFill>
                <a:schemeClr val="bg1"/>
              </a:solidFill>
              <a:latin typeface="+mj-lt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94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grpSp>
        <p:nvGrpSpPr>
          <p:cNvPr id="8" name="Grupo 7"/>
          <p:cNvGrpSpPr/>
          <p:nvPr/>
        </p:nvGrpSpPr>
        <p:grpSpPr>
          <a:xfrm>
            <a:off x="152396" y="160341"/>
            <a:ext cx="6849537" cy="477054"/>
            <a:chOff x="186265" y="67205"/>
            <a:chExt cx="6849537" cy="477054"/>
          </a:xfrm>
        </p:grpSpPr>
        <p:sp>
          <p:nvSpPr>
            <p:cNvPr id="6" name="CuadroTexto 5"/>
            <p:cNvSpPr txBox="1"/>
            <p:nvPr/>
          </p:nvSpPr>
          <p:spPr>
            <a:xfrm>
              <a:off x="270935" y="67205"/>
              <a:ext cx="6764867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5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ORIGEN DEL UNIVERSO</a:t>
              </a:r>
              <a:endParaRPr lang="es-UY" sz="25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7" name="Rectángulo 6"/>
            <p:cNvSpPr/>
            <p:nvPr/>
          </p:nvSpPr>
          <p:spPr>
            <a:xfrm>
              <a:off x="186265" y="67205"/>
              <a:ext cx="84670" cy="4402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Y"/>
            </a:p>
          </p:txBody>
        </p:sp>
      </p:grpSp>
      <p:sp>
        <p:nvSpPr>
          <p:cNvPr id="9" name="CuadroTexto 8"/>
          <p:cNvSpPr txBox="1"/>
          <p:nvPr/>
        </p:nvSpPr>
        <p:spPr>
          <a:xfrm>
            <a:off x="4197350" y="973138"/>
            <a:ext cx="37973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STEPHEN HAWKING</a:t>
            </a:r>
            <a:endParaRPr lang="es-UY" sz="2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577417" y="1307861"/>
            <a:ext cx="103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+mj-lt"/>
              </a:rPr>
              <a:t>Felipe Gil</a:t>
            </a:r>
            <a:endParaRPr lang="es-UY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97933" y="2011916"/>
            <a:ext cx="113961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</a:rPr>
              <a:t>• Propuso ‘la simpleza del universo’.</a:t>
            </a:r>
          </a:p>
          <a:p>
            <a:endParaRPr lang="es-ES" dirty="0" smtClean="0">
              <a:solidFill>
                <a:schemeClr val="bg1"/>
              </a:solidFill>
            </a:endParaRPr>
          </a:p>
          <a:p>
            <a:r>
              <a:rPr lang="es-ES" dirty="0" smtClean="0">
                <a:solidFill>
                  <a:schemeClr val="bg1"/>
                </a:solidFill>
              </a:rPr>
              <a:t>• Apoyó —y creó— la teoría del </a:t>
            </a:r>
            <a:r>
              <a:rPr lang="es-ES" b="1" dirty="0" smtClean="0">
                <a:solidFill>
                  <a:schemeClr val="bg1"/>
                </a:solidFill>
              </a:rPr>
              <a:t>«Big </a:t>
            </a:r>
            <a:r>
              <a:rPr lang="es-ES" b="1" dirty="0" err="1" smtClean="0">
                <a:solidFill>
                  <a:schemeClr val="bg1"/>
                </a:solidFill>
              </a:rPr>
              <a:t>Bang</a:t>
            </a:r>
            <a:r>
              <a:rPr lang="es-ES" b="1" dirty="0" smtClean="0">
                <a:solidFill>
                  <a:schemeClr val="bg1"/>
                </a:solidFill>
              </a:rPr>
              <a:t>»</a:t>
            </a:r>
            <a:r>
              <a:rPr lang="es-ES" dirty="0">
                <a:solidFill>
                  <a:schemeClr val="bg1"/>
                </a:solidFill>
              </a:rPr>
              <a:t>;</a:t>
            </a:r>
            <a:r>
              <a:rPr lang="es-ES" dirty="0" smtClean="0">
                <a:solidFill>
                  <a:schemeClr val="bg1"/>
                </a:solidFill>
              </a:rPr>
              <a:t> afirma que con este recién habría comenzado el «proceso de creación» del universo.</a:t>
            </a:r>
          </a:p>
          <a:p>
            <a:endParaRPr lang="es-ES" dirty="0" smtClean="0">
              <a:solidFill>
                <a:schemeClr val="bg1"/>
              </a:solidFill>
            </a:endParaRPr>
          </a:p>
          <a:p>
            <a:r>
              <a:rPr lang="es-ES" dirty="0" smtClean="0">
                <a:solidFill>
                  <a:schemeClr val="bg1"/>
                </a:solidFill>
              </a:rPr>
              <a:t>• La </a:t>
            </a:r>
            <a:r>
              <a:rPr lang="es-ES" b="1" dirty="0" smtClean="0">
                <a:solidFill>
                  <a:schemeClr val="bg1"/>
                </a:solidFill>
              </a:rPr>
              <a:t>«explosión»</a:t>
            </a:r>
            <a:r>
              <a:rPr lang="es-ES" dirty="0" smtClean="0">
                <a:solidFill>
                  <a:schemeClr val="bg1"/>
                </a:solidFill>
              </a:rPr>
              <a:t> ocasionó una fase inicial, que comenzaría una expansión acelerada</a:t>
            </a:r>
            <a:r>
              <a:rPr lang="es-ES" dirty="0">
                <a:solidFill>
                  <a:schemeClr val="bg1"/>
                </a:solidFill>
              </a:rPr>
              <a:t>,</a:t>
            </a:r>
            <a:r>
              <a:rPr lang="es-ES" dirty="0" smtClean="0">
                <a:solidFill>
                  <a:schemeClr val="bg1"/>
                </a:solidFill>
              </a:rPr>
              <a:t> siguiéndole así, una nueva explosión desacelerada en la que las partículas subatómicas —en un estado muy alto de densidad— formaron átomos, galaxias, planetas y estrellas. 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Se creó el espacio en el que se ubica el universo y se crearon muchos universos </a:t>
            </a:r>
            <a:r>
              <a:rPr lang="es-ES" b="1" dirty="0" smtClean="0">
                <a:solidFill>
                  <a:schemeClr val="bg1"/>
                </a:solidFill>
              </a:rPr>
              <a:t>[MULTIVERSO]</a:t>
            </a:r>
            <a:r>
              <a:rPr lang="es-ES" dirty="0" smtClean="0">
                <a:solidFill>
                  <a:schemeClr val="bg1"/>
                </a:solidFill>
              </a:rPr>
              <a:t/>
            </a:r>
            <a:br>
              <a:rPr lang="es-ES" dirty="0" smtClean="0">
                <a:solidFill>
                  <a:schemeClr val="bg1"/>
                </a:solidFill>
              </a:rPr>
            </a:br>
            <a:endParaRPr lang="es-ES" dirty="0" smtClean="0">
              <a:solidFill>
                <a:schemeClr val="bg1"/>
              </a:solidFill>
            </a:endParaRPr>
          </a:p>
          <a:p>
            <a:r>
              <a:rPr lang="es-ES" dirty="0" smtClean="0">
                <a:solidFill>
                  <a:schemeClr val="bg1"/>
                </a:solidFill>
              </a:rPr>
              <a:t>• Se busca obtener un modelo matemático para explicar los fenómenos del </a:t>
            </a:r>
            <a:r>
              <a:rPr lang="es-ES" b="1" dirty="0" smtClean="0">
                <a:solidFill>
                  <a:schemeClr val="bg1"/>
                </a:solidFill>
              </a:rPr>
              <a:t>«Big </a:t>
            </a:r>
            <a:r>
              <a:rPr lang="es-ES" b="1" dirty="0" err="1" smtClean="0">
                <a:solidFill>
                  <a:schemeClr val="bg1"/>
                </a:solidFill>
              </a:rPr>
              <a:t>Bang</a:t>
            </a:r>
            <a:r>
              <a:rPr lang="es-ES" b="1" dirty="0" smtClean="0">
                <a:solidFill>
                  <a:schemeClr val="bg1"/>
                </a:solidFill>
              </a:rPr>
              <a:t>»</a:t>
            </a:r>
            <a:endParaRPr lang="es-ES" dirty="0" smtClean="0">
              <a:solidFill>
                <a:schemeClr val="bg1"/>
              </a:solidFill>
            </a:endParaRPr>
          </a:p>
          <a:p>
            <a:endParaRPr lang="es-ES" dirty="0" smtClean="0">
              <a:solidFill>
                <a:schemeClr val="bg1"/>
              </a:solidFill>
            </a:endParaRPr>
          </a:p>
          <a:p>
            <a:r>
              <a:rPr lang="es-ES" dirty="0" smtClean="0">
                <a:solidFill>
                  <a:schemeClr val="bg1"/>
                </a:solidFill>
              </a:rPr>
              <a:t>•Durante la fase de expansión, gracias a la aceleración de la masa en el espacio, se generan vibraciones del </a:t>
            </a:r>
            <a:r>
              <a:rPr lang="es-ES" b="1" dirty="0" smtClean="0">
                <a:solidFill>
                  <a:schemeClr val="bg1"/>
                </a:solidFill>
              </a:rPr>
              <a:t>«tejido espacio-temporal»</a:t>
            </a:r>
            <a:r>
              <a:rPr lang="es-ES" dirty="0" smtClean="0">
                <a:solidFill>
                  <a:schemeClr val="bg1"/>
                </a:solidFill>
              </a:rPr>
              <a:t> llamadas </a:t>
            </a:r>
            <a:r>
              <a:rPr lang="es-ES" b="1" dirty="0" smtClean="0">
                <a:solidFill>
                  <a:schemeClr val="bg1"/>
                </a:solidFill>
              </a:rPr>
              <a:t>“Ondas gravitacionales”</a:t>
            </a:r>
            <a:r>
              <a:rPr lang="es-ES" dirty="0" smtClean="0">
                <a:solidFill>
                  <a:schemeClr val="bg1"/>
                </a:solidFill>
              </a:rPr>
              <a:t>. Si lográramos captarlas, podríamos comprobar o refutar esta teoría.</a:t>
            </a:r>
          </a:p>
        </p:txBody>
      </p:sp>
      <p:pic>
        <p:nvPicPr>
          <p:cNvPr id="1026" name="Picture 2" descr="Frases de Stephen Hawk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65310">
            <a:off x="9269181" y="593557"/>
            <a:ext cx="1648287" cy="12362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44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grpSp>
        <p:nvGrpSpPr>
          <p:cNvPr id="8" name="Grupo 7"/>
          <p:cNvGrpSpPr/>
          <p:nvPr/>
        </p:nvGrpSpPr>
        <p:grpSpPr>
          <a:xfrm>
            <a:off x="152396" y="160341"/>
            <a:ext cx="6849537" cy="477054"/>
            <a:chOff x="186265" y="67205"/>
            <a:chExt cx="6849537" cy="477054"/>
          </a:xfrm>
        </p:grpSpPr>
        <p:sp>
          <p:nvSpPr>
            <p:cNvPr id="6" name="CuadroTexto 5"/>
            <p:cNvSpPr txBox="1"/>
            <p:nvPr/>
          </p:nvSpPr>
          <p:spPr>
            <a:xfrm>
              <a:off x="270935" y="67205"/>
              <a:ext cx="6764867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5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ORIGEN DEL UNIVERSO</a:t>
              </a:r>
              <a:endParaRPr lang="es-UY" sz="25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7" name="Rectángulo 6"/>
            <p:cNvSpPr/>
            <p:nvPr/>
          </p:nvSpPr>
          <p:spPr>
            <a:xfrm>
              <a:off x="186265" y="67205"/>
              <a:ext cx="84670" cy="4402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Y"/>
            </a:p>
          </p:txBody>
        </p:sp>
      </p:grpSp>
      <p:sp>
        <p:nvSpPr>
          <p:cNvPr id="9" name="CuadroTexto 8"/>
          <p:cNvSpPr txBox="1"/>
          <p:nvPr/>
        </p:nvSpPr>
        <p:spPr>
          <a:xfrm>
            <a:off x="3914775" y="973138"/>
            <a:ext cx="43624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EDWIN POWER HUBBLE</a:t>
            </a:r>
            <a:endParaRPr lang="es-UY" sz="2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328709" y="1307861"/>
            <a:ext cx="1534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+mj-lt"/>
              </a:rPr>
              <a:t>Bruno Luzardo</a:t>
            </a:r>
            <a:endParaRPr lang="es-UY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97933" y="2011916"/>
            <a:ext cx="113961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</a:rPr>
              <a:t>• Midió la distancia a Andrómeda y a nebulosas espirales. Demostró que las nebulosas se encontraban lejos —y fuera— de la Vía Láctea. Se catalogaron como </a:t>
            </a:r>
            <a:r>
              <a:rPr lang="es-ES" b="1" dirty="0" smtClean="0">
                <a:solidFill>
                  <a:schemeClr val="bg1"/>
                </a:solidFill>
              </a:rPr>
              <a:t>«galaxias independientes»</a:t>
            </a:r>
            <a:r>
              <a:rPr lang="es-ES" dirty="0" smtClean="0">
                <a:solidFill>
                  <a:schemeClr val="bg1"/>
                </a:solidFill>
              </a:rPr>
              <a:t> a la nuestra, demostrando así, el gran tamaño del universo.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r>
              <a:rPr lang="es-ES" dirty="0" smtClean="0">
                <a:solidFill>
                  <a:schemeClr val="bg1"/>
                </a:solidFill>
              </a:rPr>
              <a:t>• </a:t>
            </a:r>
            <a:r>
              <a:rPr lang="es-ES" dirty="0" smtClean="0">
                <a:solidFill>
                  <a:schemeClr val="bg1"/>
                </a:solidFill>
              </a:rPr>
              <a:t>Concluyó en que todas las galaxias se alejaban entre sí, al medir sus velocidades y comparar sus distancias.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Estas medidas fueron interpretadas como el resultado de la expansión del universo, resolviendo así, las ecuaciones de la relatividad general de Einstein.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r>
              <a:rPr lang="es-ES" dirty="0" smtClean="0">
                <a:solidFill>
                  <a:schemeClr val="bg1"/>
                </a:solidFill>
              </a:rPr>
              <a:t>• Aunque recientemente se concretó que la </a:t>
            </a:r>
            <a:r>
              <a:rPr lang="es-ES" b="1" dirty="0" smtClean="0">
                <a:solidFill>
                  <a:schemeClr val="bg1"/>
                </a:solidFill>
              </a:rPr>
              <a:t>«Constante de Hubble»</a:t>
            </a:r>
            <a:r>
              <a:rPr lang="es-ES" dirty="0" smtClean="0">
                <a:solidFill>
                  <a:schemeClr val="bg1"/>
                </a:solidFill>
              </a:rPr>
              <a:t> podría no ser constante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r>
              <a:rPr lang="es-ES" dirty="0" smtClean="0">
                <a:solidFill>
                  <a:schemeClr val="bg1"/>
                </a:solidFill>
              </a:rPr>
              <a:t>• La </a:t>
            </a:r>
            <a:r>
              <a:rPr lang="es-ES" b="1" dirty="0" smtClean="0">
                <a:solidFill>
                  <a:schemeClr val="bg1"/>
                </a:solidFill>
              </a:rPr>
              <a:t>«Constante de Hubble»</a:t>
            </a:r>
            <a:r>
              <a:rPr lang="es-ES" dirty="0" smtClean="0">
                <a:solidFill>
                  <a:schemeClr val="bg1"/>
                </a:solidFill>
              </a:rPr>
              <a:t> es uno de los parámetros fundamentales de la astronomía. Esta podría revelar y/o deducir la edad exacta del universo. </a:t>
            </a:r>
          </a:p>
          <a:p>
            <a:r>
              <a:rPr lang="es-ES" dirty="0" smtClean="0">
                <a:solidFill>
                  <a:schemeClr val="bg1"/>
                </a:solidFill>
              </a:rPr>
              <a:t>Aún así, no existe todavía un valor exacto de ese tipo.</a:t>
            </a:r>
            <a:endParaRPr lang="es-ES" dirty="0">
              <a:solidFill>
                <a:schemeClr val="bg1"/>
              </a:solidFill>
            </a:endParaRPr>
          </a:p>
          <a:p>
            <a:endParaRPr lang="es-ES" dirty="0" smtClean="0">
              <a:solidFill>
                <a:schemeClr val="bg1"/>
              </a:solidFill>
            </a:endParaRPr>
          </a:p>
        </p:txBody>
      </p:sp>
      <p:pic>
        <p:nvPicPr>
          <p:cNvPr id="2050" name="Picture 2" descr="Edwin Hubble y la expansión del Univers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331">
            <a:off x="9543202" y="409701"/>
            <a:ext cx="1682080" cy="12716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3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grpSp>
        <p:nvGrpSpPr>
          <p:cNvPr id="8" name="Grupo 7"/>
          <p:cNvGrpSpPr/>
          <p:nvPr/>
        </p:nvGrpSpPr>
        <p:grpSpPr>
          <a:xfrm>
            <a:off x="152396" y="160341"/>
            <a:ext cx="6849537" cy="477054"/>
            <a:chOff x="186265" y="67205"/>
            <a:chExt cx="6849537" cy="477054"/>
          </a:xfrm>
        </p:grpSpPr>
        <p:sp>
          <p:nvSpPr>
            <p:cNvPr id="6" name="CuadroTexto 5"/>
            <p:cNvSpPr txBox="1"/>
            <p:nvPr/>
          </p:nvSpPr>
          <p:spPr>
            <a:xfrm>
              <a:off x="270935" y="67205"/>
              <a:ext cx="6764867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5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ORIGEN DEL UNIVERSO</a:t>
              </a:r>
              <a:endParaRPr lang="es-UY" sz="25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7" name="Rectángulo 6"/>
            <p:cNvSpPr/>
            <p:nvPr/>
          </p:nvSpPr>
          <p:spPr>
            <a:xfrm>
              <a:off x="186265" y="67205"/>
              <a:ext cx="84670" cy="4402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Y"/>
            </a:p>
          </p:txBody>
        </p:sp>
      </p:grpSp>
      <p:sp>
        <p:nvSpPr>
          <p:cNvPr id="9" name="CuadroTexto 8"/>
          <p:cNvSpPr txBox="1"/>
          <p:nvPr/>
        </p:nvSpPr>
        <p:spPr>
          <a:xfrm>
            <a:off x="4844675" y="973138"/>
            <a:ext cx="25026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CARL SAGAN</a:t>
            </a:r>
            <a:endParaRPr lang="es-UY" sz="2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298104" y="1307861"/>
            <a:ext cx="159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+mj-lt"/>
              </a:rPr>
              <a:t>Felipe Paladino</a:t>
            </a:r>
            <a:endParaRPr lang="es-UY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97933" y="2011916"/>
            <a:ext cx="11396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</a:rPr>
              <a:t>Sagan apoya la idea de que —para él: hace 13.800 millones de años— una gran explosión comenzó con el universo; expandiéndose, oscureciéndose y enfriándose. La energía liberada se condensó en átomos de hidrógeno, los cuales formaron nubes, que formaron las galaxias al separarse. </a:t>
            </a:r>
            <a:r>
              <a:rPr lang="es-ES" dirty="0" smtClean="0">
                <a:solidFill>
                  <a:schemeClr val="bg1"/>
                </a:solidFill>
              </a:rPr>
              <a:t> </a:t>
            </a:r>
            <a:endParaRPr lang="es-ES" dirty="0" smtClean="0">
              <a:solidFill>
                <a:schemeClr val="bg1"/>
              </a:solidFill>
            </a:endParaRPr>
          </a:p>
        </p:txBody>
      </p:sp>
      <p:pic>
        <p:nvPicPr>
          <p:cNvPr id="3074" name="Picture 2" descr="Curiosidades sobre Carl Saga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97610">
            <a:off x="9391016" y="481087"/>
            <a:ext cx="1822854" cy="13671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494632" y="3641246"/>
            <a:ext cx="11202735" cy="2256077"/>
            <a:chOff x="397933" y="3103024"/>
            <a:chExt cx="11202735" cy="2256077"/>
          </a:xfrm>
        </p:grpSpPr>
        <p:pic>
          <p:nvPicPr>
            <p:cNvPr id="3076" name="Picture 4" descr="Nuevo telescopio medirá la expansión del universo | Europa al día | DW |  18.05.202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933" y="3269969"/>
              <a:ext cx="3415059" cy="1922191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Imagen 11" descr="Una estrella en el centro&#10;&#10;Descripción generada automáticamente con confianza media"/>
            <p:cNvPicPr/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7798" y="3140451"/>
              <a:ext cx="3670935" cy="2181225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3078" name="Picture 6" descr="Maestros del Futuro: Carl Sagan - Tecnovortex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3539" y="3103024"/>
              <a:ext cx="3487129" cy="22560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6043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2" name="AutoShape 12" descr="https://cdn-user-icons.flaticon.com/28577/28577540/1634582670069.svg?token=exp=1634583646~hmac=652d4b5ef5dd3899ee88d515ff6e0fb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UY"/>
          </a:p>
        </p:txBody>
      </p:sp>
      <p:pic>
        <p:nvPicPr>
          <p:cNvPr id="1042" name="Picture 18" descr="Univer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359" y="1815572"/>
            <a:ext cx="5186891" cy="5186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/>
          <p:cNvSpPr txBox="1"/>
          <p:nvPr/>
        </p:nvSpPr>
        <p:spPr>
          <a:xfrm>
            <a:off x="2489201" y="1536174"/>
            <a:ext cx="72135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OPINIONES Y CONCLUSIONES GENERALES DEL EQUIPO</a:t>
            </a:r>
            <a:endParaRPr lang="es-UY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38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351</Words>
  <Application>Microsoft Office PowerPoint</Application>
  <PresentationFormat>Panorámica</PresentationFormat>
  <Paragraphs>34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Cambria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nachou</dc:creator>
  <cp:lastModifiedBy>nachou</cp:lastModifiedBy>
  <cp:revision>65</cp:revision>
  <dcterms:created xsi:type="dcterms:W3CDTF">2021-10-18T18:27:10Z</dcterms:created>
  <dcterms:modified xsi:type="dcterms:W3CDTF">2021-10-19T19:46:42Z</dcterms:modified>
</cp:coreProperties>
</file>